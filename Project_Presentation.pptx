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Glacial Indifference Bold Italics" charset="1" panose="00000800000000000000"/>
      <p:regular r:id="rId21"/>
    </p:embeddedFont>
    <p:embeddedFont>
      <p:font typeface="Glacial Indifference Bold" charset="1" panose="00000800000000000000"/>
      <p:regular r:id="rId22"/>
    </p:embeddedFont>
    <p:embeddedFont>
      <p:font typeface="Glacial Indifference" charset="1" panose="00000000000000000000"/>
      <p:regular r:id="rId23"/>
    </p:embeddedFont>
    <p:embeddedFont>
      <p:font typeface="Canva Sans Bold" charset="1" panose="020B0803030501040103"/>
      <p:regular r:id="rId24"/>
    </p:embeddedFont>
    <p:embeddedFont>
      <p:font typeface="Canva Sans" charset="1" panose="020B0503030501040103"/>
      <p:regular r:id="rId25"/>
    </p:embeddedFont>
    <p:embeddedFont>
      <p:font typeface="Cormorant Garamond Bold Italics" charset="1" panose="00000800000000000000"/>
      <p:regular r:id="rId26"/>
    </p:embeddedFont>
    <p:embeddedFont>
      <p:font typeface="Canva Sans Bold Italics" charset="1" panose="020B0803030501040103"/>
      <p:regular r:id="rId27"/>
    </p:embeddedFont>
    <p:embeddedFont>
      <p:font typeface="Canva Sans Italics" charset="1" panose="020B0503030501040103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58735" y="9906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9618706" y="90374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46742" y="8078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320216"/>
            <a:ext cx="2027642" cy="2237398"/>
          </a:xfrm>
          <a:custGeom>
            <a:avLst/>
            <a:gdLst/>
            <a:ahLst/>
            <a:cxnLst/>
            <a:rect r="r" b="b" t="t" l="l"/>
            <a:pathLst>
              <a:path h="2237398" w="2027642">
                <a:moveTo>
                  <a:pt x="0" y="0"/>
                </a:moveTo>
                <a:lnTo>
                  <a:pt x="2027642" y="0"/>
                </a:lnTo>
                <a:lnTo>
                  <a:pt x="2027642" y="2237398"/>
                </a:lnTo>
                <a:lnTo>
                  <a:pt x="0" y="22373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60332" y="2809626"/>
            <a:ext cx="14796805" cy="4759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0"/>
              </a:lnSpc>
            </a:pPr>
            <a:r>
              <a:rPr lang="en-US" b="true" sz="5007" i="true">
                <a:solidFill>
                  <a:srgbClr val="0F4662"/>
                </a:solidFill>
                <a:latin typeface="Glacial Indifference Bold Italics"/>
                <a:ea typeface="Glacial Indifference Bold Italics"/>
                <a:cs typeface="Glacial Indifference Bold Italics"/>
                <a:sym typeface="Glacial Indifference Bold Italics"/>
              </a:rPr>
              <a:t>Optimizing Perovskite Solar Cells using SCAPS-1D and Machine Learning Models</a:t>
            </a:r>
          </a:p>
          <a:p>
            <a:pPr algn="ctr">
              <a:lnSpc>
                <a:spcPts val="4900"/>
              </a:lnSpc>
            </a:pPr>
          </a:p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Focus:</a:t>
            </a:r>
            <a:r>
              <a:rPr lang="en-US" sz="35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Optical Modeling via Transfer Matrix Method (TMM)</a:t>
            </a:r>
          </a:p>
          <a:p>
            <a:pPr algn="ctr">
              <a:lnSpc>
                <a:spcPts val="7010"/>
              </a:lnSpc>
            </a:pPr>
          </a:p>
          <a:p>
            <a:pPr algn="ctr" marL="0" indent="0" lvl="0">
              <a:lnSpc>
                <a:spcPts val="701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812150" y="6740717"/>
            <a:ext cx="9447150" cy="1589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8"/>
              </a:lnSpc>
              <a:spcBef>
                <a:spcPct val="0"/>
              </a:spcBef>
            </a:pPr>
            <a:r>
              <a:rPr lang="en-US" b="true" sz="304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Team:     </a:t>
            </a:r>
            <a:r>
              <a:rPr lang="en-US" sz="304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V.Sujay(B22CS063),  M. Suresh(B22CS031)</a:t>
            </a:r>
          </a:p>
          <a:p>
            <a:pPr algn="l">
              <a:lnSpc>
                <a:spcPts val="4268"/>
              </a:lnSpc>
              <a:spcBef>
                <a:spcPct val="0"/>
              </a:spcBef>
            </a:pPr>
            <a:r>
              <a:rPr lang="en-US" b="true" sz="304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Course:</a:t>
            </a:r>
            <a:r>
              <a:rPr lang="en-US" sz="304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Design Credit Project</a:t>
            </a:r>
          </a:p>
          <a:p>
            <a:pPr algn="l">
              <a:lnSpc>
                <a:spcPts val="426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88" y="1723024"/>
            <a:ext cx="16474440" cy="3810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236864" y="10037100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063413" y="2782239"/>
            <a:ext cx="12026900" cy="592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Mentorship &amp; Guidance: 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Sincere thanks to</a:t>
            </a:r>
            <a:r>
              <a:rPr lang="en-US" sz="2799">
                <a:solidFill>
                  <a:srgbClr val="FF332A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true" sz="2799">
                <a:solidFill>
                  <a:srgbClr val="FF332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Dr. Ravi Prakash Srivastava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 TA 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Nishant Agarwal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for their continuous support during this Design Credit Course.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Cross-Disciplinary Learning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Grateful for the opportunity to apply computer science methods to solve complex materials engineering problems.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"Going Green" Imperative: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This project highlighted the critical need for renewable technologies like perovskite solar cells to secure India’s energy future and reduce reliance on depleting fossil fuels.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28942"/>
            <a:ext cx="804816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0000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Acknowledgements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88" y="1723024"/>
            <a:ext cx="16474440" cy="3810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236864" y="10037100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33251" y="2338070"/>
            <a:ext cx="13246100" cy="692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Bridge the gap between raw optical data and electrical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simulation 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(SCAPS-1D)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Develop an automated Python pipeline to execute the Transfer Matrix Method 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(TMM)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across the 300–900 nm solar sp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ectrum.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Calculat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 layer-by-layer optical absorptance 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</a:t>
            </a:r>
            <a:r>
              <a:rPr lang="en-US" b="true" sz="279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)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within the device stack.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ract th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 Maximum Theoretical Photocurrent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79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(J</a:t>
            </a:r>
            <a:r>
              <a:rPr lang="en-US" b="true" sz="279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max</a:t>
            </a:r>
            <a:r>
              <a:rPr lang="en-US" b="true" sz="279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)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nd quantify parasitic optical losses.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Map the internal Electric Field int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ensity to v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erify optimal light trapping within the active layer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99709"/>
            <a:ext cx="804816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0000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Obje</a:t>
            </a:r>
            <a:r>
              <a:rPr lang="en-US" b="true" sz="6399" i="true">
                <a:solidFill>
                  <a:srgbClr val="00000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ctives &amp; Scope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462133" y="1926164"/>
            <a:ext cx="16474440" cy="3810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236864" y="10037100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3558" y="3026342"/>
            <a:ext cx="12788900" cy="592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Illuminat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ion Source: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Standard AM 1.5G Solar Spectrum (1000 W/m²).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FTO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Window (200 nm):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Transparent Conductive Oxide.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ETL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(20 nm):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Electron Transport Layer.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erovskite (1200 nm):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The Active Light-Absorbing Layer.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HTL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(20 nm):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Hole Transport Layer.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etal Contact: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Back reflector and electrical contact.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965599" y="2463288"/>
            <a:ext cx="3528736" cy="7193192"/>
          </a:xfrm>
          <a:custGeom>
            <a:avLst/>
            <a:gdLst/>
            <a:ahLst/>
            <a:cxnLst/>
            <a:rect r="r" b="b" t="t" l="l"/>
            <a:pathLst>
              <a:path h="7193192" w="3528736">
                <a:moveTo>
                  <a:pt x="0" y="0"/>
                </a:moveTo>
                <a:lnTo>
                  <a:pt x="3528736" y="0"/>
                </a:lnTo>
                <a:lnTo>
                  <a:pt x="3528736" y="7193192"/>
                </a:lnTo>
                <a:lnTo>
                  <a:pt x="0" y="71931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7354" y="507574"/>
            <a:ext cx="8048163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i="true" b="true">
                <a:solidFill>
                  <a:srgbClr val="00000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</a:t>
            </a:r>
            <a:r>
              <a:rPr lang="en-US" b="true" sz="6399" i="true">
                <a:solidFill>
                  <a:srgbClr val="00000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evice Architecture</a:t>
            </a:r>
          </a:p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498086" y="1066800"/>
            <a:ext cx="16474440" cy="3810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2796545" y="1500123"/>
            <a:ext cx="11871103" cy="659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7547" indent="-268774" lvl="1">
              <a:lnSpc>
                <a:spcPts val="3485"/>
              </a:lnSpc>
              <a:buFont typeface="Arial"/>
              <a:buChar char="•"/>
            </a:pPr>
            <a:r>
              <a:rPr lang="en-US" b="true" sz="248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Challenge:</a:t>
            </a:r>
            <a:r>
              <a:rPr lang="en-US" sz="24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Initial SCAPS data</a:t>
            </a:r>
            <a:r>
              <a:rPr lang="en-US" sz="24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only provided t</a:t>
            </a:r>
            <a:r>
              <a:rPr lang="en-US" sz="24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 Ab</a:t>
            </a:r>
            <a:r>
              <a:rPr lang="en-US" sz="24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sorption C</a:t>
            </a:r>
            <a:r>
              <a:rPr lang="en-US" sz="24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oefficient</a:t>
            </a:r>
            <a:r>
              <a:rPr lang="en-US" b="true" sz="248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(</a:t>
            </a:r>
            <a:r>
              <a:rPr lang="en-US" b="true" sz="248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α</a:t>
            </a:r>
            <a:r>
              <a:rPr lang="en-US" b="true" sz="248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)</a:t>
            </a:r>
            <a:r>
              <a:rPr lang="en-US" sz="24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  <a:r>
              <a:rPr lang="en-US" sz="24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</a:t>
            </a:r>
            <a:r>
              <a:rPr lang="en-US" sz="24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MM </a:t>
            </a:r>
            <a:r>
              <a:rPr lang="en-US" sz="24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requires</a:t>
            </a:r>
            <a:r>
              <a:rPr lang="en-US" sz="24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the</a:t>
            </a:r>
            <a:r>
              <a:rPr lang="en-US" sz="24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Compl</a:t>
            </a:r>
            <a:r>
              <a:rPr lang="en-US" sz="24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 Refractive Index. </a:t>
            </a:r>
          </a:p>
          <a:p>
            <a:pPr algn="l">
              <a:lnSpc>
                <a:spcPts val="3485"/>
              </a:lnSpc>
            </a:pPr>
          </a:p>
          <a:p>
            <a:pPr algn="l" marL="537547" indent="-268774" lvl="1">
              <a:lnSpc>
                <a:spcPts val="3485"/>
              </a:lnSpc>
              <a:buFont typeface="Arial"/>
              <a:buChar char="•"/>
            </a:pPr>
            <a:r>
              <a:rPr lang="en-US" b="true" sz="248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Calculating Extinction Coefficient </a:t>
            </a:r>
            <a:r>
              <a:rPr lang="en-US" b="true" sz="248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(k)</a:t>
            </a:r>
            <a:r>
              <a:rPr lang="en-US" sz="24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Measures how fast light energy decays in the material. </a:t>
            </a:r>
          </a:p>
          <a:p>
            <a:pPr algn="l">
              <a:lnSpc>
                <a:spcPts val="3485"/>
              </a:lnSpc>
            </a:pPr>
            <a:r>
              <a:rPr lang="en-US" sz="24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                    </a:t>
            </a:r>
            <a:r>
              <a:rPr lang="en-US" sz="2489" i="true" b="true">
                <a:solidFill>
                  <a:srgbClr val="FF332A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k = (αλ) / (4π)</a:t>
            </a:r>
          </a:p>
          <a:p>
            <a:pPr algn="l">
              <a:lnSpc>
                <a:spcPts val="3485"/>
              </a:lnSpc>
            </a:pPr>
            <a:r>
              <a:rPr lang="en-US" b="true" sz="248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                  </a:t>
            </a:r>
            <a:r>
              <a:rPr lang="en-US" sz="248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(Where </a:t>
            </a:r>
            <a:r>
              <a:rPr lang="en-US" b="true" sz="248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α </a:t>
            </a:r>
            <a:r>
              <a:rPr lang="en-US" sz="248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is absorption coefficient and   </a:t>
            </a:r>
            <a:r>
              <a:rPr lang="en-US" b="true" sz="248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λ</a:t>
            </a:r>
            <a:r>
              <a:rPr lang="en-US" sz="248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is wavelength) </a:t>
            </a:r>
          </a:p>
          <a:p>
            <a:pPr algn="l">
              <a:lnSpc>
                <a:spcPts val="3485"/>
              </a:lnSpc>
            </a:pPr>
          </a:p>
          <a:p>
            <a:pPr algn="l" marL="537547" indent="-268774" lvl="1">
              <a:lnSpc>
                <a:spcPts val="3485"/>
              </a:lnSpc>
              <a:buFont typeface="Arial"/>
              <a:buChar char="•"/>
            </a:pPr>
            <a:r>
              <a:rPr lang="en-US" b="true" sz="248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Estimating Real Refractive Index </a:t>
            </a:r>
            <a:r>
              <a:rPr lang="en-US" b="true" sz="248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(n)</a:t>
            </a:r>
            <a:r>
              <a:rPr lang="en-US" b="true" sz="248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</a:t>
            </a:r>
            <a:r>
              <a:rPr lang="en-US" sz="24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Measures how much light slows down and bends. Values for the specific stack were curated from established materials literature.</a:t>
            </a:r>
          </a:p>
          <a:p>
            <a:pPr algn="l">
              <a:lnSpc>
                <a:spcPts val="3485"/>
              </a:lnSpc>
            </a:pPr>
          </a:p>
          <a:p>
            <a:pPr algn="l" marL="537547" indent="-268774" lvl="1">
              <a:lnSpc>
                <a:spcPts val="3485"/>
              </a:lnSpc>
              <a:buFont typeface="Arial"/>
              <a:buChar char="•"/>
            </a:pPr>
            <a:r>
              <a:rPr lang="en-US" b="true" sz="248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Result:</a:t>
            </a:r>
            <a:r>
              <a:rPr lang="en-US" sz="24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 complete dataset of wavelength-dependent </a:t>
            </a:r>
            <a:r>
              <a:rPr lang="en-US" b="true" sz="248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n</a:t>
            </a:r>
            <a:r>
              <a:rPr lang="en-US" sz="24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</a:t>
            </a:r>
            <a:r>
              <a:rPr lang="en-US" b="true" sz="248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k</a:t>
            </a:r>
            <a:r>
              <a:rPr lang="en-US" sz="24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values spanning </a:t>
            </a:r>
            <a:r>
              <a:rPr lang="en-US" b="true" sz="248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300 nm to 900 nm.</a:t>
            </a:r>
          </a:p>
          <a:p>
            <a:pPr algn="l">
              <a:lnSpc>
                <a:spcPts val="3485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8090925"/>
            <a:ext cx="15413211" cy="1830319"/>
          </a:xfrm>
          <a:custGeom>
            <a:avLst/>
            <a:gdLst/>
            <a:ahLst/>
            <a:cxnLst/>
            <a:rect r="r" b="b" t="t" l="l"/>
            <a:pathLst>
              <a:path h="1830319" w="15413211">
                <a:moveTo>
                  <a:pt x="0" y="0"/>
                </a:moveTo>
                <a:lnTo>
                  <a:pt x="15413211" y="0"/>
                </a:lnTo>
                <a:lnTo>
                  <a:pt x="15413211" y="1830319"/>
                </a:lnTo>
                <a:lnTo>
                  <a:pt x="0" y="18303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8086" y="-114300"/>
            <a:ext cx="1416956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0000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D</a:t>
            </a:r>
            <a:r>
              <a:rPr lang="en-US" b="true" sz="6399" i="true">
                <a:solidFill>
                  <a:srgbClr val="00000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ata Pipeline &amp; Optical Constants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92168" y="1619565"/>
            <a:ext cx="17248138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564810" y="2061445"/>
            <a:ext cx="11557838" cy="8406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Physical Phenomenon: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Thin films cause forward and backward light waves to crash into each other, creating optical interference.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 Mathematical Model: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TMM uses linear algebra to track this interference.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Complex Refractive Index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true" sz="279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(Ñ)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Combines bending and absorbing properties into one matrix parameter: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      </a:t>
            </a:r>
            <a:r>
              <a:rPr lang="en-US" sz="2799" i="true" b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</a:t>
            </a:r>
            <a:r>
              <a:rPr lang="en-US" sz="2799" i="true" b="true">
                <a:solidFill>
                  <a:srgbClr val="FF332A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 Ñ = n + ik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Algorithm Execution: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By multiplying Interface Matrices (reflection) and Propagation Matrices (phase shift), the algorithm calculates the exact fraction of light Reflected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79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(R)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Transmitted </a:t>
            </a:r>
            <a:r>
              <a:rPr lang="en-US" b="true" sz="279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(T)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and Absorbed </a:t>
            </a:r>
            <a:r>
              <a:rPr lang="en-US" b="true" sz="279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(A)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 each layer. 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122648" y="3422102"/>
            <a:ext cx="5913191" cy="4971908"/>
          </a:xfrm>
          <a:custGeom>
            <a:avLst/>
            <a:gdLst/>
            <a:ahLst/>
            <a:cxnLst/>
            <a:rect r="r" b="b" t="t" l="l"/>
            <a:pathLst>
              <a:path h="4971908" w="5913191">
                <a:moveTo>
                  <a:pt x="0" y="0"/>
                </a:moveTo>
                <a:lnTo>
                  <a:pt x="5913191" y="0"/>
                </a:lnTo>
                <a:lnTo>
                  <a:pt x="5913191" y="4971908"/>
                </a:lnTo>
                <a:lnTo>
                  <a:pt x="0" y="49719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92168" y="266700"/>
            <a:ext cx="1295036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0000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The Tra</a:t>
            </a:r>
            <a:r>
              <a:rPr lang="en-US" b="true" sz="6399" i="true">
                <a:solidFill>
                  <a:srgbClr val="00000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nsfer Matrix Method (TMM)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70056" y="1943100"/>
            <a:ext cx="16689244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2664524" y="3130918"/>
            <a:ext cx="12958952" cy="4939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Perovskite Absorption: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Exceeds 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90%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across the visible light spectrum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(400 nm - 750 nm)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proving the 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1200 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nm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thickness is highly effective.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Parasitic Losses: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The FTO layer (blue area) exhibits heavy parasitic absorption in the Ultraviolet range 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(&lt; 400 nm)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turning potential energy into wasted heat.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Reflectance: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Demonstrates minimal light lost to bouncing off the front glass.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341368" y="428942"/>
            <a:ext cx="1295036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0000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R</a:t>
            </a:r>
            <a:r>
              <a:rPr lang="en-US" b="true" sz="6399" i="true">
                <a:solidFill>
                  <a:srgbClr val="00000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esults : Optical Absorption Profile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70056" y="1943100"/>
            <a:ext cx="16689244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242868" y="2057400"/>
            <a:ext cx="13802264" cy="8229600"/>
          </a:xfrm>
          <a:custGeom>
            <a:avLst/>
            <a:gdLst/>
            <a:ahLst/>
            <a:cxnLst/>
            <a:rect r="r" b="b" t="t" l="l"/>
            <a:pathLst>
              <a:path h="8229600" w="13802264">
                <a:moveTo>
                  <a:pt x="0" y="0"/>
                </a:moveTo>
                <a:lnTo>
                  <a:pt x="13802264" y="0"/>
                </a:lnTo>
                <a:lnTo>
                  <a:pt x="1380226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1368" y="428942"/>
            <a:ext cx="1295036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0000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R</a:t>
            </a:r>
            <a:r>
              <a:rPr lang="en-US" b="true" sz="6399" i="true">
                <a:solidFill>
                  <a:srgbClr val="00000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esults : Optical Absorption Profile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570056" y="1943100"/>
            <a:ext cx="17115686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661621" y="2457290"/>
            <a:ext cx="14964757" cy="642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Goal: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Convert optical absorptance percent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ges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nto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al-w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ld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lec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ical current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generation potential.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Integration: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Absorptance is mapped against the AM 1.5G stand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ardize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 solar photon flux.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Photocurrent Formula: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Assuming 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100%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Internal Quantum Efficiency (1 photon = 1 electron):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                           </a:t>
            </a:r>
            <a:r>
              <a:rPr lang="en-US" sz="2799">
                <a:solidFill>
                  <a:srgbClr val="FF332A"/>
                </a:solidFill>
                <a:latin typeface="Canva Sans"/>
                <a:ea typeface="Canva Sans"/>
                <a:cs typeface="Canva Sans"/>
                <a:sym typeface="Canva Sans"/>
              </a:rPr>
              <a:t>    </a:t>
            </a:r>
            <a:r>
              <a:rPr lang="en-US" sz="2799" i="true" b="true">
                <a:solidFill>
                  <a:srgbClr val="FF332A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J = q · Φ · A</a:t>
            </a:r>
          </a:p>
          <a:p>
            <a:pPr algn="l">
              <a:lnSpc>
                <a:spcPts val="3919"/>
              </a:lnSpc>
            </a:pPr>
            <a:r>
              <a:rPr lang="en-US" sz="2799" i="true" b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         </a:t>
            </a:r>
            <a:r>
              <a:rPr lang="en-US" sz="27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(Where </a:t>
            </a:r>
            <a:r>
              <a:rPr lang="en-US" sz="2799" i="true" b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q</a:t>
            </a:r>
            <a:r>
              <a:rPr lang="en-US" sz="27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is electron charge </a:t>
            </a:r>
            <a:r>
              <a:rPr lang="en-US" sz="2799" i="true" b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Φ</a:t>
            </a:r>
            <a:r>
              <a:rPr lang="en-US" sz="27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is solar photon flux, and</a:t>
            </a:r>
            <a:r>
              <a:rPr lang="en-US" sz="2799" i="true" b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A</a:t>
            </a:r>
            <a:r>
              <a:rPr lang="en-US" sz="27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is TMM    absorptance)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Result: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model calculates a Maximum Theoretical Photocurrent 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</a:t>
            </a:r>
            <a:r>
              <a:rPr lang="en-US" b="true" sz="279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J</a:t>
            </a:r>
            <a:r>
              <a:rPr lang="en-US" b="true" sz="279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max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)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of 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41.22 mA/cm²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0056" y="428942"/>
            <a:ext cx="1437276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0000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R</a:t>
            </a:r>
            <a:r>
              <a:rPr lang="en-US" b="true" sz="6399" i="true">
                <a:solidFill>
                  <a:srgbClr val="00000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esults : Theoretical Photocurrent (J</a:t>
            </a:r>
            <a:r>
              <a:rPr lang="en-US" b="true" sz="6399" i="true">
                <a:solidFill>
                  <a:srgbClr val="00000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max</a:t>
            </a:r>
            <a:r>
              <a:rPr lang="en-US" b="true" sz="6399" i="true">
                <a:solidFill>
                  <a:srgbClr val="00000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)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570056" y="1943100"/>
            <a:ext cx="17115686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592928" y="2150054"/>
            <a:ext cx="13102143" cy="8136946"/>
          </a:xfrm>
          <a:custGeom>
            <a:avLst/>
            <a:gdLst/>
            <a:ahLst/>
            <a:cxnLst/>
            <a:rect r="r" b="b" t="t" l="l"/>
            <a:pathLst>
              <a:path h="8136946" w="13102143">
                <a:moveTo>
                  <a:pt x="0" y="0"/>
                </a:moveTo>
                <a:lnTo>
                  <a:pt x="13102144" y="0"/>
                </a:lnTo>
                <a:lnTo>
                  <a:pt x="13102144" y="8136946"/>
                </a:lnTo>
                <a:lnTo>
                  <a:pt x="0" y="81369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70056" y="428942"/>
            <a:ext cx="1437276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0000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R</a:t>
            </a:r>
            <a:r>
              <a:rPr lang="en-US" b="true" sz="6399" i="true">
                <a:solidFill>
                  <a:srgbClr val="00000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esults : Theoretical Photocurrent (J</a:t>
            </a:r>
            <a:r>
              <a:rPr lang="en-US" b="true" sz="6399" i="true">
                <a:solidFill>
                  <a:srgbClr val="00000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max</a:t>
            </a:r>
            <a:r>
              <a:rPr lang="en-US" b="true" sz="6399" i="true">
                <a:solidFill>
                  <a:srgbClr val="00000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)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570056" y="1905000"/>
            <a:ext cx="16474440" cy="3810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515258" y="2257425"/>
            <a:ext cx="14160929" cy="939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Purpose: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To verify where the light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energy is physically localized inside the solar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cell depth.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Math: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otal electric field is the sum of forward and backward waves. Optical intensi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ty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is the square of this field: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 i="true" b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                                       </a:t>
            </a:r>
            <a:r>
              <a:rPr lang="en-US" sz="2799" i="true" b="true">
                <a:solidFill>
                  <a:srgbClr val="FF332A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Intensity = |E</a:t>
            </a:r>
            <a:r>
              <a:rPr lang="en-US" sz="2799" i="true" b="true">
                <a:solidFill>
                  <a:srgbClr val="FF332A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forward </a:t>
            </a:r>
            <a:r>
              <a:rPr lang="en-US" sz="2799" i="true" b="true">
                <a:solidFill>
                  <a:srgbClr val="FF332A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+ E</a:t>
            </a:r>
            <a:r>
              <a:rPr lang="en-US" sz="2799" i="true" b="true">
                <a:solidFill>
                  <a:srgbClr val="FF332A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backward</a:t>
            </a:r>
            <a:r>
              <a:rPr lang="en-US" sz="2799" i="true" b="true">
                <a:solidFill>
                  <a:srgbClr val="FF332A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|</a:t>
            </a:r>
            <a:r>
              <a:rPr lang="en-US" sz="2799" i="true" b="true">
                <a:solidFill>
                  <a:srgbClr val="FF332A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2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Analysis: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Complete Optical Absorption: Rapid exponential decay proves the 1200 nm perovskite layer successfully absorbs nearly 100% of incident light.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 Interference Spikes: Because light is fully absorbed before reaching the rear mirror, no backward waves exist to create standing waves.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Conclusion: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Validates that the device architecture effectively traps light for maximum exciton (electron-hole) generation.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570056" y="428942"/>
            <a:ext cx="14372763" cy="110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99"/>
              </a:lnSpc>
              <a:spcBef>
                <a:spcPct val="0"/>
              </a:spcBef>
            </a:pPr>
            <a:r>
              <a:rPr lang="en-US" b="true" sz="6499" i="true">
                <a:solidFill>
                  <a:srgbClr val="00000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R</a:t>
            </a:r>
            <a:r>
              <a:rPr lang="en-US" b="true" sz="6499" i="true">
                <a:solidFill>
                  <a:srgbClr val="00000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esults : Internal Electric Field Profile(|E|</a:t>
            </a:r>
            <a:r>
              <a:rPr lang="en-US" b="true" sz="6499" i="true">
                <a:solidFill>
                  <a:srgbClr val="00000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2</a:t>
            </a:r>
            <a:r>
              <a:rPr lang="en-US" b="true" sz="6499" i="true">
                <a:solidFill>
                  <a:srgbClr val="00000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)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570056" y="1905000"/>
            <a:ext cx="16474440" cy="3810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853063" y="2314575"/>
            <a:ext cx="12581873" cy="7501942"/>
          </a:xfrm>
          <a:custGeom>
            <a:avLst/>
            <a:gdLst/>
            <a:ahLst/>
            <a:cxnLst/>
            <a:rect r="r" b="b" t="t" l="l"/>
            <a:pathLst>
              <a:path h="7501942" w="12581873">
                <a:moveTo>
                  <a:pt x="0" y="0"/>
                </a:moveTo>
                <a:lnTo>
                  <a:pt x="12581874" y="0"/>
                </a:lnTo>
                <a:lnTo>
                  <a:pt x="12581874" y="7501942"/>
                </a:lnTo>
                <a:lnTo>
                  <a:pt x="0" y="75019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70056" y="428942"/>
            <a:ext cx="14372763" cy="110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99"/>
              </a:lnSpc>
              <a:spcBef>
                <a:spcPct val="0"/>
              </a:spcBef>
            </a:pPr>
            <a:r>
              <a:rPr lang="en-US" b="true" sz="6499" i="true">
                <a:solidFill>
                  <a:srgbClr val="00000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R</a:t>
            </a:r>
            <a:r>
              <a:rPr lang="en-US" b="true" sz="6499" i="true">
                <a:solidFill>
                  <a:srgbClr val="00000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esults : Internal Electric Field Profile(|E|</a:t>
            </a:r>
            <a:r>
              <a:rPr lang="en-US" b="true" sz="6499" i="true">
                <a:solidFill>
                  <a:srgbClr val="00000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2</a:t>
            </a:r>
            <a:r>
              <a:rPr lang="en-US" b="true" sz="6499" i="true">
                <a:solidFill>
                  <a:srgbClr val="00000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)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570056" y="1880337"/>
            <a:ext cx="16474440" cy="3810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570056" y="2769744"/>
            <a:ext cx="11317144" cy="592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Successfully built an automated, Python-bas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ed optical simulation environment.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Quantified the absolute optical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its of the provided device architecture.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Extracted the critical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true" sz="279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J</a:t>
            </a:r>
            <a:r>
              <a:rPr lang="en-US" b="true" sz="279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max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parameter.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Next Steps: This verifi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ed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optical data is now ready to be fed into the Machine Learning models and SCAPS-1D for the electrical optimization phase.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772798" y="2826894"/>
            <a:ext cx="5486502" cy="4996219"/>
          </a:xfrm>
          <a:custGeom>
            <a:avLst/>
            <a:gdLst/>
            <a:ahLst/>
            <a:cxnLst/>
            <a:rect r="r" b="b" t="t" l="l"/>
            <a:pathLst>
              <a:path h="4996219" w="5486502">
                <a:moveTo>
                  <a:pt x="0" y="0"/>
                </a:moveTo>
                <a:lnTo>
                  <a:pt x="5486502" y="0"/>
                </a:lnTo>
                <a:lnTo>
                  <a:pt x="5486502" y="4996219"/>
                </a:lnTo>
                <a:lnTo>
                  <a:pt x="0" y="4996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70056" y="428942"/>
            <a:ext cx="1437276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0000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Conclusion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570056" y="1880337"/>
            <a:ext cx="16474440" cy="3810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570056" y="2604240"/>
            <a:ext cx="14372763" cy="394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[1]Benatto, L., et al. (2024). TMM-Sim: A versatile tool for optical simulation of thin-film solar cells. Computer Physics Communications, 300, 109206.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[2]</a:t>
            </a: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Saikia, D., et al. (2022). Performance evaluation of an all inorganic CsGeI3 based perovskite solar cell by numerical simulation. Optical Materials, 123, 111839.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[3]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Byrnes, S. J. (2016). Multilayer optical calculations. arXiv preprint arXiv:1603.02720. (Source methodology for the Python tmm module).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0056" y="428942"/>
            <a:ext cx="1437276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0000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References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78871" y="99864"/>
            <a:ext cx="9932436" cy="277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655"/>
              </a:lnSpc>
              <a:spcBef>
                <a:spcPct val="0"/>
              </a:spcBef>
            </a:pPr>
            <a:r>
              <a:rPr lang="en-US" b="true" sz="16182" i="true">
                <a:solidFill>
                  <a:srgbClr val="1F2D3B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DAHIFgxAxRM</dc:identifier>
  <dcterms:modified xsi:type="dcterms:W3CDTF">2011-08-01T06:04:30Z</dcterms:modified>
  <cp:revision>1</cp:revision>
  <dc:title>DC</dc:title>
</cp:coreProperties>
</file>